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71" r:id="rId13"/>
    <p:sldId id="268" r:id="rId14"/>
    <p:sldId id="270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Payment Method Mix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91-4A6F-B466-3BABA6E19EB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91-4A6F-B466-3BABA6E19EB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91-4A6F-B466-3BABA6E19EB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91-4A6F-B466-3BABA6E19EB2}"/>
              </c:ext>
            </c:extLst>
          </c:dPt>
          <c:dLbls>
            <c:dLbl>
              <c:idx val="0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91-4A6F-B466-3BABA6E19EB2}"/>
                </c:ext>
              </c:extLst>
            </c:dLbl>
            <c:dLbl>
              <c:idx val="1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91-4A6F-B466-3BABA6E19EB2}"/>
                </c:ext>
              </c:extLst>
            </c:dLbl>
            <c:dLbl>
              <c:idx val="2"/>
              <c:layout>
                <c:manualLayout>
                  <c:x val="4.3049062226596678E-2"/>
                  <c:y val="8.682602174728158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91-4A6F-B466-3BABA6E19EB2}"/>
                </c:ext>
              </c:extLst>
            </c:dLbl>
            <c:dLbl>
              <c:idx val="3"/>
              <c:layout>
                <c:manualLayout>
                  <c:x val="1.9949215332458442E-2"/>
                  <c:y val="0.2087376577927758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A91-4A6F-B466-3BABA6E19E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75.3</c:v>
                </c:pt>
                <c:pt idx="1">
                  <c:v>19.399999999999999</c:v>
                </c:pt>
                <c:pt idx="2">
                  <c:v>3.8</c:v>
                </c:pt>
                <c:pt idx="3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A91-4A6F-B466-3BABA6E19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86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87EF-BBDF-754F-821F-45B791AB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53B06-7E55-737C-461F-21B679221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AB143-2645-A1BE-D4B8-57CBCDDB5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5960E-0916-D89B-781F-478ADA891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84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A71B-8893-0924-8549-A3ECCBA66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A6955-DB47-E086-B8F1-6B751A076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8E4FD-3BFF-3957-B2C7-95351123B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1509C-3B43-E1AE-8A3E-CC6EB0B4B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61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D9A4C-613C-B27D-B738-F2C0B142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06EFF-8E03-8575-5C19-1D84B6A55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F0CE8-2176-363B-CB67-8FA5F231F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ECCB2-6150-60AF-9A84-528488B069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68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631D-F19D-67F0-0F18-BF915028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95B66-7FB6-BB0A-EF15-3CD2F2D22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82F26-F32D-CE87-9D93-E772E2053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1EDF-FA5E-DC15-DCE2-5781DDA58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5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CS-404 Big Data Analytics  |  NUST SEECS  |  Spring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2593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&amp; Analytics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0" y="31546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Olist Public Dataset  |  Assignments 02 &amp; 03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</a:rPr>
              <a:t>Hassan Aamir  (453976)       |       Umair Naeem  (479984)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75569"/>
                </a:solidFill>
              </a:rPr>
              <a:t>Instructor: Ms. Zahida Kausar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4160520" cy="749808"/>
          </a:xfrm>
          <a:prstGeom prst="rect">
            <a:avLst/>
          </a:prstGeom>
          <a:solidFill>
            <a:srgbClr val="065A8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13258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Group Introduction &amp; Task Division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2276856"/>
            <a:ext cx="4160520" cy="749808"/>
          </a:xfrm>
          <a:prstGeom prst="rect">
            <a:avLst/>
          </a:prstGeom>
          <a:solidFill>
            <a:srgbClr val="065A8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27685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227685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Dataset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3227832"/>
            <a:ext cx="4160520" cy="749808"/>
          </a:xfrm>
          <a:prstGeom prst="rect">
            <a:avLst/>
          </a:prstGeom>
          <a:solidFill>
            <a:srgbClr val="065A8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2783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34440" y="32278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Data Quality Issues &amp; Cleaning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4160520" cy="749808"/>
          </a:xfrm>
          <a:prstGeom prst="rect">
            <a:avLst/>
          </a:prstGeom>
          <a:solidFill>
            <a:srgbClr val="065A8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623560" y="13258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ETL Pipeline &amp; Star Schema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00600" y="2276856"/>
            <a:ext cx="4160520" cy="749808"/>
          </a:xfrm>
          <a:prstGeom prst="rect">
            <a:avLst/>
          </a:prstGeom>
          <a:solidFill>
            <a:srgbClr val="065A8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227685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23560" y="2276856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Analytics &amp; Visualizations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0600" y="3227832"/>
            <a:ext cx="4160520" cy="749808"/>
          </a:xfrm>
          <a:prstGeom prst="rect">
            <a:avLst/>
          </a:prstGeom>
          <a:solidFill>
            <a:srgbClr val="065A8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322783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23560" y="32278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Business Insights &amp; Resources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3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5982" y="45341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Introduction &amp; Task Division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88620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8862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Umair Naeem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</a:rPr>
              <a:t>Student ID: 479984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3566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3A5F"/>
                </a:solidFill>
              </a:rPr>
              <a:t>Responsibilities: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HDFS environment setup &amp; configuration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ingest.py — ingestion pipeline (A2)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etl.py — PySpark ETL pipeline (A3)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Star schema design &amp; implementation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GitHub repository setup &amp; README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8620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8862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4264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Aamir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179222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</a:rPr>
              <a:t>Student ID: 453976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2084832"/>
            <a:ext cx="35661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3A5F"/>
                </a:solidFill>
              </a:rPr>
              <a:t>Responsibilities: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profiling_report.py — data profiling (A2)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analytics.py — Spark SQL queries (A3)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final_report.py — PDF report generation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Charts, visualizations &amp; business insights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Presentation slides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4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0621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0621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Olist Brazilian E-Commerce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266602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E3A5F"/>
                </a:solidFill>
              </a:rPr>
              <a:t>What is the Olist Dataset?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E3A5F"/>
                </a:solidFill>
              </a:rPr>
              <a:t>A public Brazilian e-commerce dataset released by Olist, covering real orders placed between 2016 and 2018. It contains 8 relational tables spanning the full order lifecycle: from purchase to delivery and customer review.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E3A5F"/>
                </a:solidFill>
              </a:rPr>
              <a:t>Why This Dataset?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Over 1 million records justify distributed HDFS/Spark processing.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8 tables across multiple data types: timestamps, numerics, categorical, and free text.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Rich relational structure naturally maps to a star schema.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E3A5F"/>
                </a:solidFill>
              </a:rPr>
              <a:t>Real business questions around revenue, delivery, and customer satisfaction.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06440" y="1325880"/>
            <a:ext cx="29260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06440" y="13898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806440" y="19385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Total Records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2423160"/>
            <a:ext cx="29260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24871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806440" y="3035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Relational Tables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3520440"/>
            <a:ext cx="292608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06440" y="35844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806440" y="4133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Dataset Period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5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94944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Source Tables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54864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380744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" y="172821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112,650 rows  —  Order lifecycle &amp;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03704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203704"/>
            <a:ext cx="54864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258568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olist_order_items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" y="2606040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112,650 rows  —  Products per order + pricing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081528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081528"/>
            <a:ext cx="54864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3136392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olist_customers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" y="3483864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99,441 rows  —  Customer location info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959352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959352"/>
            <a:ext cx="54864" cy="7863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4014216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olist_products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" y="4361688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32,951 rows  —  Product catalogue &amp; dimensions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325880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1325880"/>
            <a:ext cx="54864" cy="7863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01768" y="1380744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olist_sellers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01768" y="172821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3,095 rows  —  Seller location info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2203704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2203704"/>
            <a:ext cx="54864" cy="7863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01768" y="2258568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olist_order_payments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01768" y="2606040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103,886 rows  —  Payment method &amp; installments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3081528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3081528"/>
            <a:ext cx="54864" cy="7863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01768" y="3136392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olist_order_reviews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01768" y="3483864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99,224 rows  —  Customer ratings &amp; comments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9352"/>
            <a:ext cx="4160520" cy="786384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3959352"/>
            <a:ext cx="54864" cy="7863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01768" y="4014216"/>
            <a:ext cx="3904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olist_geolocation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001768" y="4361688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1,000,163 rows  —  ZIP-code coordinate mapping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6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567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Identified (A2 Profiling)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60520" cy="113385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66160" y="1408176"/>
            <a:ext cx="8686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4081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~79%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3274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Duplicates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1,000,163 raw rows reduced to ~194,000 after deduplication on (zip, </a:t>
            </a:r>
            <a:r>
              <a:rPr lang="en-US" sz="1300" dirty="0" err="1">
                <a:solidFill>
                  <a:srgbClr val="475569"/>
                </a:solidFill>
              </a:rPr>
              <a:t>lat</a:t>
            </a:r>
            <a:r>
              <a:rPr lang="en-US" sz="1300" dirty="0">
                <a:solidFill>
                  <a:srgbClr val="475569"/>
                </a:solidFill>
              </a:rPr>
              <a:t>, lng)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" y="212140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</a:rPr>
              <a:t>Fix: dropDuplicates then groupBy zip for avg coordinates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4160520" cy="113385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66160" y="2688336"/>
            <a:ext cx="86868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26075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Delivery Timestamps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" y="3008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Cancelled and unavailable orders have no delivery dates: correlated nulls, not errors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" y="340156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</a:rPr>
              <a:t>Fix: Added is_delivered flag; delivery duration computed only for delivered 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858768"/>
            <a:ext cx="4160520" cy="113385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66160" y="3968496"/>
            <a:ext cx="8686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0" y="396849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0.07%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8877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Prices &amp; Freight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6072" y="4288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price &lt;= 0 and freight_value &lt; 0 found in order_items, likely data entry errors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" y="46817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</a:rPr>
              <a:t>Fix: price &lt;= 0 set to NULL (cast DoubleType); freight &lt; 0 clamped to 0.0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298448"/>
            <a:ext cx="4160520" cy="113385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0" y="1408176"/>
            <a:ext cx="86868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55280" y="14081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99th Pct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5192" y="13274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65192" y="172821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Extreme values in price, freight, and payment_value skew aggregations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65192" y="212140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</a:rPr>
              <a:t>Fix: Winsorized at 99th percentile; original values preserved in raw_* columns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578608"/>
            <a:ext cx="4160520" cy="113385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955280" y="2688336"/>
            <a:ext cx="8686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55280" y="26883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~59%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26075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Review Comments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65192" y="300837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review_comment_message is optional: missing does not mean a quality problem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65192" y="340156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</a:rPr>
              <a:t>Fix: Added has_comment flag; NULL text replaced with empty string for NLP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3858768"/>
            <a:ext cx="4160520" cy="113385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55280" y="3968496"/>
            <a:ext cx="86868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955280" y="396849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Schema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65192" y="38877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Column Name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965192" y="4288536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product_name_lenght (typo) present in products table across all rows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65192" y="46817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</a:rPr>
              <a:t>Fix: Renamed via withColumnRenamed at ETL schema level — no data values changed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7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ETL Pipeline &amp; Star Schema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47218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72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" y="1947672"/>
            <a:ext cx="73152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325880"/>
            <a:ext cx="3657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325880"/>
            <a:ext cx="54864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79576" y="13990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Extract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9576" y="172821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Read raw CSVs from HDFS /warehouse/raw/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36829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" y="2843784"/>
            <a:ext cx="73152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05840" y="2221992"/>
            <a:ext cx="3657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" y="2221992"/>
            <a:ext cx="54864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79576" y="22951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Transform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79576" y="26243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Apply A2 cleaning rules; derive new columns; cast types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26440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26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" y="3739896"/>
            <a:ext cx="73152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5840" y="3118104"/>
            <a:ext cx="3657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5840" y="3118104"/>
            <a:ext cx="54864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79576" y="31912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Load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9576" y="35204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Write Parquet to /warehouse/processed/; partition by year/month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416052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4160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05840" y="4014216"/>
            <a:ext cx="3657600" cy="768096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5840" y="4014216"/>
            <a:ext cx="54864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79576" y="40873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</a:rPr>
              <a:t>Validate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179576" y="44165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Assert null counts on key columns; verify row counts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1901952"/>
            <a:ext cx="146304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190195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fact_orders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1417320"/>
            <a:ext cx="150876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0" y="141732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dim_customers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1417320"/>
            <a:ext cx="150876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06640" y="141732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dim_products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2788920"/>
            <a:ext cx="150876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0" y="278892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dim_sellers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2788920"/>
            <a:ext cx="150876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06640" y="278892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dim_payments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3886200"/>
            <a:ext cx="150876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32120" y="388620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dim_date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95160" y="3886200"/>
            <a:ext cx="150876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95160" y="3886200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dim_geolocation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97780" y="10866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Star Schema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029200" y="4681728"/>
            <a:ext cx="37033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0" y="468172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Optimizations: Partitioning  |  Broadcast Join  |  Caching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534557"/>
            <a:ext cx="899327" cy="179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8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B4D8"/>
                </a:solidFill>
              </a:rPr>
              <a:t>SECTION 05  </a:t>
            </a:r>
            <a:r>
              <a:rPr lang="en-US" sz="1600" dirty="0">
                <a:solidFill>
                  <a:srgbClr val="FFFFFF"/>
                </a:solidFill>
              </a:rPr>
              <a:t>Analytics &amp; Business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Questions Answered with Spark SQL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39595"/>
            <a:ext cx="8183880" cy="530352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39595"/>
            <a:ext cx="4946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Q1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4127" y="1381113"/>
            <a:ext cx="45719" cy="41568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1339595"/>
            <a:ext cx="58456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What are the monthly revenue trends over time, and how does month-over-month growth change?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0" y="1422631"/>
            <a:ext cx="1259058" cy="30101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1422631"/>
            <a:ext cx="1259058" cy="30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LAG() Window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125979"/>
            <a:ext cx="8183880" cy="530352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125979"/>
            <a:ext cx="4946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Q2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4127" y="2167497"/>
            <a:ext cx="45719" cy="41568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2125979"/>
            <a:ext cx="58456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Which product categories generate the highest revenue, and how do they rank against each other?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0" y="2209015"/>
            <a:ext cx="1259058" cy="30101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0" y="2209015"/>
            <a:ext cx="1259058" cy="30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RANK() Window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912363"/>
            <a:ext cx="8183880" cy="530352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912363"/>
            <a:ext cx="4946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Q3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7" y="2953881"/>
            <a:ext cx="45719" cy="41568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70432" y="2912363"/>
            <a:ext cx="58456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Which sellers have the highest sales volume, and how do they rank within their state?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0" y="2995399"/>
            <a:ext cx="1259058" cy="30101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2995399"/>
            <a:ext cx="1259058" cy="30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ROW_NUMBER() by State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698747"/>
            <a:ext cx="8183880" cy="530352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698747"/>
            <a:ext cx="4946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Q4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24127" y="3740265"/>
            <a:ext cx="45719" cy="41568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70432" y="3698747"/>
            <a:ext cx="58456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How do delivery times vary by seller state, and does delay correlate with customer ratings?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315200" y="3781783"/>
            <a:ext cx="1259058" cy="30101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0" y="3781783"/>
            <a:ext cx="1259058" cy="30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Correlation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485131"/>
            <a:ext cx="8183880" cy="530352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485131"/>
            <a:ext cx="4946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Q5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24127" y="4526649"/>
            <a:ext cx="45719" cy="41568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70432" y="4485131"/>
            <a:ext cx="584562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Which payment methods dominate, and how do installment counts affect average order value?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0" y="4568167"/>
            <a:ext cx="1259058" cy="301011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0" y="4568167"/>
            <a:ext cx="1259058" cy="301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Aggregation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9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42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Monthly Revenue Trend (2016–2018)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675120" y="12984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Key Findings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675120" y="1810512"/>
            <a:ext cx="2103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48272" y="185623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3.3x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748272" y="22128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revenue growth from Oct 2016 to Aug 2018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2770632"/>
            <a:ext cx="2103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48272" y="281635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Nov 2017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48272" y="31729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largest single-month spike — Black Friday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3730752"/>
            <a:ext cx="2103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48272" y="37764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LAG()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748272" y="413308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window function tracks MoM change each month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B171A9-0D1E-8AC0-797C-34BB45BC4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52" y="3915937"/>
            <a:ext cx="6369377" cy="3492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01A476-ECB4-0CA3-AF2B-572946A3F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52" y="1831489"/>
            <a:ext cx="6340203" cy="2117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3677-80EA-1A1A-B41F-87772998B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44D533F-AC22-820F-06D2-F83EC6D7BA4D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9 / 12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155A1B-0D58-488A-7A63-679C7CEED1D2}"/>
              </a:ext>
            </a:extLst>
          </p:cNvPr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05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B1E09D-5B17-31AF-0893-6B66C00EAB1C}"/>
              </a:ext>
            </a:extLst>
          </p:cNvPr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0DF4B2-6A89-9420-2287-4447E66D0352}"/>
              </a:ext>
            </a:extLst>
          </p:cNvPr>
          <p:cNvSpPr/>
          <p:nvPr/>
        </p:nvSpPr>
        <p:spPr>
          <a:xfrm>
            <a:off x="640080" y="5042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Monthly Revenue Trend (2016–2018)</a:t>
            </a:r>
            <a:endParaRPr lang="en-US" sz="3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E282B2D-091D-9FBB-0CC0-0E33C833C6CD}"/>
              </a:ext>
            </a:extLst>
          </p:cNvPr>
          <p:cNvSpPr/>
          <p:nvPr/>
        </p:nvSpPr>
        <p:spPr>
          <a:xfrm>
            <a:off x="6675120" y="12984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Key Findings</a:t>
            </a:r>
            <a:endParaRPr lang="en-US" sz="18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4834213-CEB5-02CB-4506-CBA806D8ED51}"/>
              </a:ext>
            </a:extLst>
          </p:cNvPr>
          <p:cNvSpPr/>
          <p:nvPr/>
        </p:nvSpPr>
        <p:spPr>
          <a:xfrm>
            <a:off x="6675120" y="1810512"/>
            <a:ext cx="2103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308AF06-CCF5-D957-4E14-5FB8A0D5BC57}"/>
              </a:ext>
            </a:extLst>
          </p:cNvPr>
          <p:cNvSpPr/>
          <p:nvPr/>
        </p:nvSpPr>
        <p:spPr>
          <a:xfrm>
            <a:off x="6748272" y="185623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3.3x</a:t>
            </a:r>
            <a:endParaRPr lang="en-US" sz="2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E49FEB-0DDE-65BA-1150-6CD26D62E5CB}"/>
              </a:ext>
            </a:extLst>
          </p:cNvPr>
          <p:cNvSpPr/>
          <p:nvPr/>
        </p:nvSpPr>
        <p:spPr>
          <a:xfrm>
            <a:off x="6748272" y="22128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revenue growth from Oct 2016 to Aug 2018</a:t>
            </a:r>
            <a:endParaRPr lang="en-US" sz="12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BC41C43-0DB3-4817-A4EB-6EDF40C8FB84}"/>
              </a:ext>
            </a:extLst>
          </p:cNvPr>
          <p:cNvSpPr/>
          <p:nvPr/>
        </p:nvSpPr>
        <p:spPr>
          <a:xfrm>
            <a:off x="6675120" y="2770632"/>
            <a:ext cx="2103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3B272C-9D6B-2CC4-907E-CFA1EC52E55D}"/>
              </a:ext>
            </a:extLst>
          </p:cNvPr>
          <p:cNvSpPr/>
          <p:nvPr/>
        </p:nvSpPr>
        <p:spPr>
          <a:xfrm>
            <a:off x="6748272" y="281635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Nov 2017</a:t>
            </a:r>
            <a:endParaRPr lang="en-US" sz="2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AFB8B58-D8E3-2690-E40C-E62693061832}"/>
              </a:ext>
            </a:extLst>
          </p:cNvPr>
          <p:cNvSpPr/>
          <p:nvPr/>
        </p:nvSpPr>
        <p:spPr>
          <a:xfrm>
            <a:off x="6748272" y="317296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largest single-month spike — Black Friday</a:t>
            </a:r>
            <a:endParaRPr lang="en-US" sz="12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5C974B2-723D-FDEC-5421-0FCA0DEA4582}"/>
              </a:ext>
            </a:extLst>
          </p:cNvPr>
          <p:cNvSpPr/>
          <p:nvPr/>
        </p:nvSpPr>
        <p:spPr>
          <a:xfrm>
            <a:off x="6675120" y="3730752"/>
            <a:ext cx="210312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D9626BC-9E67-B582-538D-FCB12E00B5EF}"/>
              </a:ext>
            </a:extLst>
          </p:cNvPr>
          <p:cNvSpPr/>
          <p:nvPr/>
        </p:nvSpPr>
        <p:spPr>
          <a:xfrm>
            <a:off x="6748272" y="377647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LAG()</a:t>
            </a:r>
            <a:endParaRPr lang="en-US" sz="2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D521152-E9AA-1C29-DBF4-BCAE7F648C73}"/>
              </a:ext>
            </a:extLst>
          </p:cNvPr>
          <p:cNvSpPr/>
          <p:nvPr/>
        </p:nvSpPr>
        <p:spPr>
          <a:xfrm>
            <a:off x="6748272" y="413308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window function tracks MoM change each month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43B4EA-CCCF-EEF1-C7A9-5B977374E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2"/>
          <a:stretch>
            <a:fillRect/>
          </a:stretch>
        </p:blipFill>
        <p:spPr>
          <a:xfrm>
            <a:off x="288920" y="1783714"/>
            <a:ext cx="6134932" cy="233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9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10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58997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Q5 — Category Revenue  and  Payment Methods</a:t>
            </a:r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3966827046"/>
              </p:ext>
            </p:extLst>
          </p:nvPr>
        </p:nvGraphicFramePr>
        <p:xfrm>
          <a:off x="5897880" y="1261872"/>
          <a:ext cx="29260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411480" y="4864608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</a:rPr>
              <a:t>Top 15 Revenue Categories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887631-CEEF-545F-5FDF-DA3655CA2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91" y="1321498"/>
            <a:ext cx="4970217" cy="3140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046C-F8F3-8790-843B-3FFC6443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7BA37A-2266-5FC8-839A-0106511D34F8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10 / 12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8012FF-228B-3DC2-74E0-FACD4BEC0EC2}"/>
              </a:ext>
            </a:extLst>
          </p:cNvPr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05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E887DE0-D269-6716-3C8A-74FB8CD6AB53}"/>
              </a:ext>
            </a:extLst>
          </p:cNvPr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40CFE6-D0BF-8FEB-C37A-58D3B2CA1A7E}"/>
              </a:ext>
            </a:extLst>
          </p:cNvPr>
          <p:cNvSpPr/>
          <p:nvPr/>
        </p:nvSpPr>
        <p:spPr>
          <a:xfrm>
            <a:off x="731520" y="58997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Q5 — Category Revenue  and  Payment Methods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CE9CB1-224A-C3A8-A1DA-0734BA2BF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7" y="1579054"/>
            <a:ext cx="7476565" cy="29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92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926F-23F9-D6F5-ABC2-48DB3CD1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138988-832C-AE43-651B-9D61E69F1D8B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10 / 12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EAE096-632E-650B-C691-644F8B63D5C9}"/>
              </a:ext>
            </a:extLst>
          </p:cNvPr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05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9B3630-9CF8-C951-F34A-3A20AE15DE17}"/>
              </a:ext>
            </a:extLst>
          </p:cNvPr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A33B6F-E8F4-65CA-1ABA-3CD37507A6A3}"/>
              </a:ext>
            </a:extLst>
          </p:cNvPr>
          <p:cNvSpPr/>
          <p:nvPr/>
        </p:nvSpPr>
        <p:spPr>
          <a:xfrm>
            <a:off x="73152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&amp; Q4 — Delivery Performance and Seller Performance per state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6FB03C7-7316-D7B4-FCEB-12220C1338CF}"/>
              </a:ext>
            </a:extLst>
          </p:cNvPr>
          <p:cNvSpPr/>
          <p:nvPr/>
        </p:nvSpPr>
        <p:spPr>
          <a:xfrm>
            <a:off x="-496402" y="421549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</a:rPr>
              <a:t>Top Sellers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3C2B20-095C-40AC-C54C-22202074B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531" y="1581356"/>
            <a:ext cx="4779470" cy="2470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41B224-55B6-9AA0-0475-0DA08B0C45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327"/>
          <a:stretch>
            <a:fillRect/>
          </a:stretch>
        </p:blipFill>
        <p:spPr>
          <a:xfrm>
            <a:off x="202222" y="1926060"/>
            <a:ext cx="3951991" cy="196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99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38F37-A9CA-3307-9CEA-49FF2C65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265D07-9C95-1C4F-06D2-4BFDF8270833}"/>
              </a:ext>
            </a:extLst>
          </p:cNvPr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10 / 12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502AA7-2A87-43E5-D9D6-67C75252CC47}"/>
              </a:ext>
            </a:extLst>
          </p:cNvPr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05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463162-8C74-FB9C-14BD-53E25010F0EF}"/>
              </a:ext>
            </a:extLst>
          </p:cNvPr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14D3E9-6929-8719-D5AF-197675CF9424}"/>
              </a:ext>
            </a:extLst>
          </p:cNvPr>
          <p:cNvSpPr/>
          <p:nvPr/>
        </p:nvSpPr>
        <p:spPr>
          <a:xfrm>
            <a:off x="731520" y="53035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&amp; Q4 — Delivery Performance and Seller Performance per state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A118FA-A979-AD99-FCEF-6430A8579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892" y="1409526"/>
            <a:ext cx="5097656" cy="33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06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</a:rPr>
              <a:t>11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</a:rPr>
              <a:t>SECTION 05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8920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6052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41605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18488" y="14996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Revenue Growth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" y="2009375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</a:rPr>
              <a:t>Platform revenue grew 3.3x from late 2016 to mid-2018. Black Friday 2017 produced the single largest revenue spike, validating seasonal marketing investment.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145536"/>
            <a:ext cx="416052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3145536"/>
            <a:ext cx="416052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" y="332841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618488" y="33467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Category Leadership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" y="3858768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</a:rPr>
              <a:t>bed_bath_table, </a:t>
            </a:r>
            <a:r>
              <a:rPr lang="en-US" sz="1400" dirty="0" err="1">
                <a:solidFill>
                  <a:srgbClr val="1E3A5F"/>
                </a:solidFill>
              </a:rPr>
              <a:t>watches_gifts</a:t>
            </a:r>
            <a:r>
              <a:rPr lang="en-US" sz="1400" dirty="0">
                <a:solidFill>
                  <a:srgbClr val="1E3A5F"/>
                </a:solidFill>
              </a:rPr>
              <a:t>, </a:t>
            </a:r>
            <a:r>
              <a:rPr lang="en-US" sz="1400" dirty="0" err="1">
                <a:solidFill>
                  <a:srgbClr val="1E3A5F"/>
                </a:solidFill>
              </a:rPr>
              <a:t>health_beauty</a:t>
            </a:r>
            <a:r>
              <a:rPr lang="en-US" sz="1400" dirty="0">
                <a:solidFill>
                  <a:srgbClr val="1E3A5F"/>
                </a:solidFill>
              </a:rPr>
              <a:t>, and sports_leisure together account for the majority of GMV. Protecting share in these categories is the highest-priority seller acquisition target.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298448"/>
            <a:ext cx="416052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1298448"/>
            <a:ext cx="416052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65192" y="148132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007608" y="149961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Delivery &amp; Ratings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65192" y="2011680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</a:rPr>
              <a:t>Each additional day of delivery delay is associated with a 0.08-point drop in average review score. Northern states show the highest delays and lowest ratings — a clear logistics gap.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0600" y="3145536"/>
            <a:ext cx="416052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1E4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3145536"/>
            <a:ext cx="416052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65192" y="332841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007608" y="33467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Installment Effect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65192" y="3858768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</a:rPr>
              <a:t>Credit card orders with 10+ installments have average values 2.8x higher than single-payment orders. Interest-free installment promotions in high-price categories can significantly grow basket size.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Section 06  —  Resources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</a:rPr>
              <a:t>Questions are welcome.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487168"/>
            <a:ext cx="416052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6151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626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kaggle.com/datasets/olistbr/brazilian-ecommerce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32841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Olist Brazilian E-Commerce Public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487168"/>
            <a:ext cx="416052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26151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9626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github.com/hassan2-aamir/</a:t>
            </a:r>
            <a:r>
              <a:rPr lang="en-US" sz="1500" dirty="0" err="1">
                <a:solidFill>
                  <a:srgbClr val="FFFFFF"/>
                </a:solidFill>
              </a:rPr>
              <a:t>Ecommerce_Analysis_BDA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332841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Source code: ingest.py, etl.py, analytics.py, final_report.py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CS-404 Big Data Analytics  |  NUST SEECS  |  Hassan Aamir  &amp;  Umair Naeem  |  Spring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1209</Words>
  <Application>Microsoft Office PowerPoint</Application>
  <PresentationFormat>On-screen Show (16:9)</PresentationFormat>
  <Paragraphs>222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BDA Project — Olist E-Commerce Analysis</dc:title>
  <dc:subject>PptxGenJS Presentation</dc:subject>
  <dc:creator>Hassan Aamir, Umair Naeem</dc:creator>
  <cp:lastModifiedBy>Hassan Aamir</cp:lastModifiedBy>
  <cp:revision>4</cp:revision>
  <dcterms:created xsi:type="dcterms:W3CDTF">2026-05-08T13:19:49Z</dcterms:created>
  <dcterms:modified xsi:type="dcterms:W3CDTF">2026-05-10T19:37:15Z</dcterms:modified>
</cp:coreProperties>
</file>